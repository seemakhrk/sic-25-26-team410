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C9A54E94-E67C-4744-9343-EB58D45AD6D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625C4C59-F4A1-4A8D-A20E-CC42D4237A0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495" indent="-247015" algn="l" rtl="0" eaLnBrk="1" latinLnBrk="0" hangingPunct="1">
        <a:spcBef>
          <a:spcPts val="300"/>
        </a:spcBef>
        <a:buClr>
          <a:schemeClr val="accent2"/>
        </a:buClr>
        <a:buFont typeface="Georgia" panose="02040502050405020303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290" indent="-219710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830" indent="-201295" algn="l" rtl="0" eaLnBrk="1" latinLnBrk="0" hangingPunct="1">
        <a:spcBef>
          <a:spcPts val="300"/>
        </a:spcBef>
        <a:buClr>
          <a:schemeClr val="accent1"/>
        </a:buClr>
        <a:buFont typeface="Wingdings 2" panose="05020102010507070707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90015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 panose="02040502050405020303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990600"/>
            <a:ext cx="8458200" cy="1317625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accent2">
                <a:lumMod val="5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i="1" dirty="0" smtClean="0">
                <a:ln w="17780" cmpd="sng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  <a:miter lim="800000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algn="tl" rotWithShape="0">
                    <a:srgbClr val="000000"/>
                  </a:outerShdw>
                </a:effectLst>
                <a:latin typeface="Algerian" panose="04020705040A02060702" pitchFamily="82" charset="0"/>
              </a:rPr>
              <a:t>Big data analytics for business insights</a:t>
            </a:r>
            <a:endParaRPr lang="en-US" b="1" i="1" dirty="0">
              <a:ln w="17780" cmpd="sng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 lim="800000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algn="tl" rotWithShape="0">
                  <a:srgbClr val="000000"/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743200"/>
            <a:ext cx="6019800" cy="533400"/>
          </a:xfrm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relaxedInset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85000" lnSpcReduction="10000"/>
          </a:bodyPr>
          <a:lstStyle/>
          <a:p>
            <a:r>
              <a:rPr lang="en-US" b="1" i="1" dirty="0" smtClean="0">
                <a:latin typeface="Algerian" panose="04020705040A02060702" pitchFamily="82" charset="0"/>
              </a:rPr>
              <a:t>Transforming data into smart decisions</a:t>
            </a:r>
            <a:endParaRPr lang="en-US" b="1" i="1" dirty="0">
              <a:latin typeface="Algerian" panose="04020705040A02060702" pitchFamily="82" charset="0"/>
            </a:endParaRPr>
          </a:p>
        </p:txBody>
      </p:sp>
      <p:sp>
        <p:nvSpPr>
          <p:cNvPr id="5" name="Round Diagonal Corner Rectangle 4"/>
          <p:cNvSpPr/>
          <p:nvPr/>
        </p:nvSpPr>
        <p:spPr>
          <a:xfrm>
            <a:off x="5943600" y="4267200"/>
            <a:ext cx="2743200" cy="990600"/>
          </a:xfrm>
          <a:prstGeom prst="round2DiagRect">
            <a:avLst/>
          </a:prstGeom>
          <a:ln w="57150"/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 smtClean="0">
                <a:latin typeface="Algerian" panose="04020705040A02060702" pitchFamily="82" charset="0"/>
              </a:rPr>
              <a:t>Govt</a:t>
            </a:r>
            <a:r>
              <a:rPr lang="en-US" b="1" i="1" dirty="0" smtClean="0">
                <a:latin typeface="Algerian" panose="04020705040A02060702" pitchFamily="82" charset="0"/>
              </a:rPr>
              <a:t> college for women(</a:t>
            </a:r>
            <a:r>
              <a:rPr lang="en-US" b="1" i="1" dirty="0" err="1" smtClean="0">
                <a:latin typeface="Algerian" panose="04020705040A02060702" pitchFamily="82" charset="0"/>
              </a:rPr>
              <a:t>gcw</a:t>
            </a:r>
            <a:r>
              <a:rPr lang="en-US" b="1" i="1" dirty="0" smtClean="0">
                <a:latin typeface="Algerian" panose="04020705040A02060702" pitchFamily="82" charset="0"/>
              </a:rPr>
              <a:t>), </a:t>
            </a:r>
            <a:r>
              <a:rPr lang="en-US" b="1" i="1" dirty="0" err="1" smtClean="0">
                <a:latin typeface="Algerian" panose="04020705040A02060702" pitchFamily="82" charset="0"/>
              </a:rPr>
              <a:t>karnal</a:t>
            </a:r>
            <a:endParaRPr lang="en-US" b="1" i="1" dirty="0">
              <a:latin typeface="Algerian" panose="04020705040A02060702" pitchFamily="82" charset="0"/>
            </a:endParaRPr>
          </a:p>
        </p:txBody>
      </p:sp>
      <p:sp>
        <p:nvSpPr>
          <p:cNvPr id="6" name="Round Diagonal Corner Rectangle 5"/>
          <p:cNvSpPr/>
          <p:nvPr/>
        </p:nvSpPr>
        <p:spPr>
          <a:xfrm>
            <a:off x="3124200" y="5486400"/>
            <a:ext cx="2590800" cy="838200"/>
          </a:xfrm>
          <a:prstGeom prst="round2DiagRect">
            <a:avLst/>
          </a:prstGeom>
          <a:ln w="57150"/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slope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Bca</a:t>
            </a:r>
            <a:r>
              <a:rPr lang="en-US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final year</a:t>
            </a:r>
            <a:endParaRPr lang="en-US" b="1" i="1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8" name="Round Diagonal Corner Rectangle 7"/>
          <p:cNvSpPr/>
          <p:nvPr/>
        </p:nvSpPr>
        <p:spPr>
          <a:xfrm>
            <a:off x="685800" y="4114800"/>
            <a:ext cx="2743200" cy="914400"/>
          </a:xfrm>
          <a:prstGeom prst="round2DiagRect">
            <a:avLst>
              <a:gd name="adj1" fmla="val 16667"/>
              <a:gd name="adj2" fmla="val 5217"/>
            </a:avLst>
          </a:prstGeom>
          <a:ln w="57150"/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latin typeface="Algerian" panose="04020705040A02060702" pitchFamily="82" charset="0"/>
              </a:rPr>
              <a:t>Project id:-sic/team/410</a:t>
            </a:r>
            <a:endParaRPr lang="en-US" b="1" i="1" dirty="0" smtClean="0">
              <a:latin typeface="Algerian" panose="04020705040A02060702" pitchFamily="82" charset="0"/>
            </a:endParaRPr>
          </a:p>
          <a:p>
            <a:pPr algn="ctr"/>
            <a:endParaRPr lang="en-US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ransition>
    <p:wheel spokes="4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i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team member </a:t>
            </a:r>
            <a:r>
              <a:rPr lang="en-US" b="1" i="1" dirty="0" err="1" smtClean="0">
                <a:solidFill>
                  <a:schemeClr val="tx1"/>
                </a:solidFill>
                <a:latin typeface="Algerian" panose="04020705040A02060702" pitchFamily="82" charset="0"/>
              </a:rPr>
              <a:t>details</a:t>
            </a:r>
            <a:r>
              <a:rPr lang="en-US" b="1" i="1" dirty="0" err="1" smtClean="0">
                <a:noFill/>
                <a:latin typeface="Algerian" panose="04020705040A02060702" pitchFamily="82" charset="0"/>
              </a:rPr>
              <a:t>er</a:t>
            </a:r>
            <a:r>
              <a:rPr lang="en-US" b="1" i="1" dirty="0" smtClean="0">
                <a:noFill/>
                <a:latin typeface="Algerian" panose="04020705040A02060702" pitchFamily="82" charset="0"/>
              </a:rPr>
              <a:t> details</a:t>
            </a:r>
            <a:endParaRPr lang="en-US" b="1" i="1" dirty="0">
              <a:noFill/>
              <a:latin typeface="Algerian" panose="04020705040A02060702" pitchFamily="82" charset="0"/>
            </a:endParaRPr>
          </a:p>
        </p:txBody>
      </p:sp>
      <p:pic>
        <p:nvPicPr>
          <p:cNvPr id="12" name="Content Placeholder 11" descr="WhatsApp Image 2026-04-02 at 8.03.40 PM.jpe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400" y="914400"/>
            <a:ext cx="8442780" cy="55737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innerShdw blurRad="76200">
              <a:srgbClr val="000000"/>
            </a:innerShdw>
          </a:effectLst>
        </p:spPr>
      </p:pic>
      <p:pic>
        <p:nvPicPr>
          <p:cNvPr id="14" name="Picture 13" descr="seem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752600"/>
            <a:ext cx="905658" cy="838200"/>
          </a:xfrm>
          <a:prstGeom prst="ellipse">
            <a:avLst/>
          </a:prstGeom>
          <a:ln w="38100" cap="rnd">
            <a:solidFill>
              <a:srgbClr val="333333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Below"/>
            <a:lightRig rig="contrasting" dir="t">
              <a:rot lat="0" lon="0" rev="3000000"/>
            </a:lightRig>
          </a:scene3d>
          <a:sp3d contourW="7620">
            <a:bevelT w="95250" h="31750" prst="convex"/>
            <a:contourClr>
              <a:srgbClr val="333333"/>
            </a:contourClr>
          </a:sp3d>
        </p:spPr>
      </p:pic>
      <p:pic>
        <p:nvPicPr>
          <p:cNvPr id="15" name="Picture 14" descr="muska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2590800"/>
            <a:ext cx="921713" cy="844577"/>
          </a:xfrm>
          <a:prstGeom prst="ellipse">
            <a:avLst/>
          </a:prstGeom>
          <a:ln w="63500" cap="rnd">
            <a:solidFill>
              <a:schemeClr val="accent2">
                <a:lumMod val="5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Below"/>
            <a:lightRig rig="contrasting" dir="t">
              <a:rot lat="0" lon="0" rev="3000000"/>
            </a:lightRig>
          </a:scene3d>
          <a:sp3d contourW="7620">
            <a:bevelT w="95250" h="31750" prst="convex"/>
            <a:contourClr>
              <a:srgbClr val="333333"/>
            </a:contourClr>
          </a:sp3d>
        </p:spPr>
      </p:pic>
      <p:pic>
        <p:nvPicPr>
          <p:cNvPr id="16" name="Picture 15" descr="shobh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" y="3429000"/>
            <a:ext cx="898958" cy="847338"/>
          </a:xfrm>
          <a:prstGeom prst="ellipse">
            <a:avLst/>
          </a:prstGeom>
          <a:ln w="57150" cap="rnd">
            <a:solidFill>
              <a:schemeClr val="accent2">
                <a:lumMod val="5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Below"/>
            <a:lightRig rig="contrasting" dir="t">
              <a:rot lat="0" lon="0" rev="3000000"/>
            </a:lightRig>
          </a:scene3d>
          <a:sp3d contourW="7620">
            <a:bevelT w="95250" h="31750" prst="convex"/>
            <a:contourClr>
              <a:srgbClr val="333333"/>
            </a:contourClr>
          </a:sp3d>
        </p:spPr>
      </p:pic>
      <p:pic>
        <p:nvPicPr>
          <p:cNvPr id="17" name="Picture 16" descr="isha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04800" y="5181600"/>
            <a:ext cx="1069893" cy="812895"/>
          </a:xfrm>
          <a:prstGeom prst="ellipse">
            <a:avLst/>
          </a:prstGeom>
          <a:ln w="57150" cap="rnd">
            <a:solidFill>
              <a:schemeClr val="accent2">
                <a:lumMod val="5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Below"/>
            <a:lightRig rig="contrasting" dir="t">
              <a:rot lat="0" lon="0" rev="3000000"/>
            </a:lightRig>
          </a:scene3d>
          <a:sp3d contourW="7620">
            <a:bevelT w="95250" h="31750" prst="convex"/>
            <a:contourClr>
              <a:srgbClr val="333333"/>
            </a:contourClr>
          </a:sp3d>
        </p:spPr>
      </p:pic>
      <p:pic>
        <p:nvPicPr>
          <p:cNvPr id="18" name="Picture 17" descr="isha m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81000" y="4343400"/>
            <a:ext cx="997670" cy="762000"/>
          </a:xfrm>
          <a:prstGeom prst="ellipse">
            <a:avLst/>
          </a:prstGeom>
          <a:ln w="57150" cap="rnd">
            <a:solidFill>
              <a:schemeClr val="accent2">
                <a:lumMod val="5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Below"/>
            <a:lightRig rig="contrasting" dir="t">
              <a:rot lat="0" lon="0" rev="3000000"/>
            </a:lightRig>
          </a:scene3d>
          <a:sp3d contourW="7620">
            <a:bevelT w="95250" h="31750" prst="convex"/>
            <a:contourClr>
              <a:srgbClr val="333333"/>
            </a:contourClr>
          </a:sp3d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  <a:scene3d>
            <a:camera prst="perspectiveBelow"/>
            <a:lightRig rig="threePt" dir="t"/>
          </a:scene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cene3d>
              <a:camera prst="perspectiveBelow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i="1" spc="50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anose="04020705040A02060702" pitchFamily="82" charset="0"/>
              </a:rPr>
              <a:t>             </a:t>
            </a:r>
            <a:r>
              <a:rPr lang="en-US" b="1" i="1" spc="50" dirty="0" smtClean="0">
                <a:ln w="28575"/>
                <a:solidFill>
                  <a:schemeClr val="tx2">
                    <a:lumMod val="75000"/>
                  </a:schemeClr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lgerian" panose="04020705040A02060702" pitchFamily="82" charset="0"/>
              </a:rPr>
              <a:t>introduction</a:t>
            </a:r>
            <a:endParaRPr lang="en-US" b="1" i="1" spc="50" dirty="0">
              <a:ln w="28575"/>
              <a:solidFill>
                <a:schemeClr val="tx2">
                  <a:lumMod val="75000"/>
                </a:scheme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8575">
            <a:solidFill>
              <a:schemeClr val="accent3">
                <a:lumMod val="75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b="1" i="1" dirty="0" smtClean="0">
                <a:latin typeface="Colonna MT" panose="04020805060202030203" pitchFamily="82" charset="0"/>
              </a:rPr>
              <a:t>BIG DATA REFERS TO EXTREMELY LARGE AND COMPLEX DATASETS.</a:t>
            </a:r>
            <a:endParaRPr lang="en-US" b="1" i="1" dirty="0" smtClean="0">
              <a:latin typeface="Colonna MT" panose="04020805060202030203" pitchFamily="82" charset="0"/>
            </a:endParaRPr>
          </a:p>
          <a:p>
            <a:r>
              <a:rPr lang="en-US" b="1" i="1" dirty="0" smtClean="0">
                <a:latin typeface="Colonna MT" panose="04020805060202030203" pitchFamily="82" charset="0"/>
              </a:rPr>
              <a:t>TRADITIONAL TOOLS CAN’T HANDLE SUCH DATA EFFICIENTLY</a:t>
            </a:r>
            <a:endParaRPr lang="en-US" b="1" i="1" dirty="0" smtClean="0">
              <a:latin typeface="Colonna MT" panose="04020805060202030203" pitchFamily="82" charset="0"/>
            </a:endParaRPr>
          </a:p>
          <a:p>
            <a:r>
              <a:rPr lang="en-US" b="1" i="1" dirty="0" smtClean="0">
                <a:latin typeface="Colonna MT" panose="04020805060202030203" pitchFamily="82" charset="0"/>
              </a:rPr>
              <a:t>BUSINESSES USE BIG DATA ANALYTICS TO GAIN INSIGHTS AND IMROVE DECISION-MAKING</a:t>
            </a:r>
            <a:endParaRPr lang="en-US" b="1" i="1" dirty="0" smtClean="0">
              <a:latin typeface="Colonna MT" panose="04020805060202030203" pitchFamily="82" charset="0"/>
            </a:endParaRPr>
          </a:p>
          <a:p>
            <a:r>
              <a:rPr lang="en-US" b="1" i="1" dirty="0" smtClean="0">
                <a:latin typeface="Colonna MT" panose="04020805060202030203" pitchFamily="82" charset="0"/>
              </a:rPr>
              <a:t>IN TODAY’S DIGITAL WORLD ,MASSIVE AMOUNT OF DATA ARE GENERATED EVERY SECOND FROM VARIOUS SOURCES LIKE SOCIAL MEDIA,ONLINE TRANSACTIONS AND SMART DEVICES.</a:t>
            </a:r>
            <a:endParaRPr lang="en-US" b="1" i="1" dirty="0" smtClean="0">
              <a:latin typeface="Colonna MT" panose="04020805060202030203" pitchFamily="82" charset="0"/>
            </a:endParaRPr>
          </a:p>
          <a:p>
            <a:r>
              <a:rPr lang="en-US" b="1" i="1" smtClean="0">
                <a:latin typeface="Colonna MT" panose="04020805060202030203" pitchFamily="82" charset="0"/>
              </a:rPr>
              <a:t>THESE INSIGHTS SUPPORT BETTER DECISION  MAKING AND BUSINESS GROWTH.</a:t>
            </a:r>
            <a:endParaRPr lang="en-US" b="1" i="1" dirty="0">
              <a:latin typeface="Colonna MT" panose="04020805060202030203" pitchFamily="82" charset="0"/>
            </a:endParaRPr>
          </a:p>
        </p:txBody>
      </p:sp>
    </p:spTree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57150"/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i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Algerian" panose="04020705040A02060702" pitchFamily="82" charset="0"/>
              </a:rPr>
              <a:t>What is big data?</a:t>
            </a:r>
            <a:endParaRPr lang="en-US" b="1" i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glow rad="101600">
              <a:schemeClr val="accent3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i="1" dirty="0" smtClean="0">
                <a:latin typeface="Arial Rounded MT Bold" panose="020F0704030504030204" pitchFamily="34" charset="0"/>
              </a:rPr>
              <a:t>Big data refers to extremely large datasets  that can’t  be processed using  traditional data management  tools.</a:t>
            </a:r>
            <a:endParaRPr lang="en-US" sz="2000" b="1" i="1" dirty="0" smtClean="0"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i="1" dirty="0" smtClean="0">
                <a:latin typeface="Arial Rounded MT Bold" panose="020F0704030504030204" pitchFamily="34" charset="0"/>
              </a:rPr>
              <a:t>It includes  structured data(tables),semi-structured data(JSON,HTML) and unstructured data(</a:t>
            </a:r>
            <a:r>
              <a:rPr lang="en-US" sz="2000" b="1" i="1" dirty="0" err="1" smtClean="0">
                <a:latin typeface="Arial Rounded MT Bold" panose="020F0704030504030204" pitchFamily="34" charset="0"/>
              </a:rPr>
              <a:t>videos,images,text</a:t>
            </a:r>
            <a:r>
              <a:rPr lang="en-US" sz="2000" b="1" i="1" dirty="0" smtClean="0">
                <a:latin typeface="Arial Rounded MT Bold" panose="020F0704030504030204" pitchFamily="34" charset="0"/>
              </a:rPr>
              <a:t>).</a:t>
            </a:r>
            <a:endParaRPr lang="en-US" sz="2000" b="1" i="1" dirty="0" smtClean="0"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i="1" dirty="0" smtClean="0">
                <a:solidFill>
                  <a:schemeClr val="accent2"/>
                </a:solidFill>
                <a:latin typeface="Arial Rounded MT Bold" panose="020F0704030504030204" pitchFamily="34" charset="0"/>
              </a:rPr>
              <a:t>5v’s explained:-</a:t>
            </a:r>
            <a:endParaRPr lang="en-US" sz="2000" b="1" i="1" dirty="0" smtClean="0">
              <a:solidFill>
                <a:schemeClr val="accent2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i="1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Volume:-</a:t>
            </a:r>
            <a:r>
              <a:rPr lang="en-US" sz="2000" b="1" i="1" dirty="0" smtClean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Huge amount of data generated daily.</a:t>
            </a:r>
            <a:endParaRPr lang="en-US" sz="2000" b="1" i="1" dirty="0" smtClean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i="1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Velocity:- </a:t>
            </a:r>
            <a:r>
              <a:rPr lang="en-US" sz="2000" b="1" i="1" dirty="0" smtClean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Speed at which data is generated and processed</a:t>
            </a:r>
            <a:endParaRPr lang="en-US" sz="2000" b="1" i="1" dirty="0" smtClean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i="1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Variety:</a:t>
            </a:r>
            <a:r>
              <a:rPr lang="en-US" sz="2000" b="1" i="1" dirty="0" smtClean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-Different types of data formats </a:t>
            </a:r>
            <a:endParaRPr lang="en-US" sz="2000" b="1" i="1" dirty="0" smtClean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i="1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Veracity:</a:t>
            </a:r>
            <a:r>
              <a:rPr lang="en-US" sz="2000" b="1" i="1" dirty="0" smtClean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-Accuracy and reliability of data</a:t>
            </a:r>
            <a:endParaRPr lang="en-US" sz="2000" b="1" i="1" dirty="0" smtClean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i="1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Value:-</a:t>
            </a:r>
            <a:r>
              <a:rPr lang="en-US" sz="2000" b="1" i="1" dirty="0" smtClean="0">
                <a:solidFill>
                  <a:schemeClr val="accent4">
                    <a:lumMod val="50000"/>
                  </a:schemeClr>
                </a:solidFill>
                <a:latin typeface="Arial Rounded MT Bold" panose="020F0704030504030204" pitchFamily="34" charset="0"/>
              </a:rPr>
              <a:t>Useful insights extracted from data</a:t>
            </a:r>
            <a:endParaRPr lang="en-US" sz="2000" b="1" i="1" dirty="0" smtClean="0">
              <a:solidFill>
                <a:schemeClr val="accent4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prstTxWarp prst="textStop">
              <a:avLst/>
            </a:prstTxWarp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i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Souces</a:t>
            </a:r>
            <a:r>
              <a:rPr lang="en-US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 of big data </a:t>
            </a:r>
            <a:endParaRPr lang="en-US" b="1" i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  <a:reflection blurRad="6350" stA="55000" endA="300" endPos="45500" dir="5400000" sy="-10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Social Media Platforms: </a:t>
            </a:r>
            <a:r>
              <a:rPr lang="en-US" dirty="0" smtClean="0"/>
              <a:t>User posts, likes, comments provide insights into customer behavior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E-commerce Transactions: </a:t>
            </a:r>
            <a:r>
              <a:rPr lang="en-US" dirty="0" smtClean="0"/>
              <a:t>Purchase history, payment details, and browsing behavior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err="1" smtClean="0">
                <a:solidFill>
                  <a:schemeClr val="accent2">
                    <a:lumMod val="50000"/>
                  </a:schemeClr>
                </a:solidFill>
              </a:rPr>
              <a:t>IoT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 Devices: </a:t>
            </a:r>
            <a:r>
              <a:rPr lang="en-US" dirty="0" smtClean="0"/>
              <a:t>Sensors, smart watches, smart home devices generate real-time data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Mobile Applications: </a:t>
            </a:r>
            <a:r>
              <a:rPr lang="en-US" dirty="0" smtClean="0"/>
              <a:t>User </a:t>
            </a:r>
            <a:r>
              <a:rPr lang="en-US" dirty="0" err="1" smtClean="0"/>
              <a:t>activity,location</a:t>
            </a:r>
            <a:r>
              <a:rPr lang="en-US" dirty="0" smtClean="0"/>
              <a:t>, preferences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Business Systems</a:t>
            </a:r>
            <a:r>
              <a:rPr lang="en-US" dirty="0" smtClean="0"/>
              <a:t>: ERP, CRM systems store organizational data</a:t>
            </a:r>
            <a:endParaRPr lang="en-US" dirty="0"/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prstTxWarp prst="textChevronInverted">
              <a:avLst/>
            </a:prstTxWarp>
          </a:bodyPr>
          <a:lstStyle/>
          <a:p>
            <a:r>
              <a:rPr lang="en-US" b="1" i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lgerian" panose="04020705040A02060702" pitchFamily="82" charset="0"/>
              </a:rPr>
              <a:t>Technologies used</a:t>
            </a:r>
            <a:endParaRPr lang="en-US" b="1" i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i="1" dirty="0" err="1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Hadoop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: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     Open-source framework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Stores and processes large datasets using   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 distributed systems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Apache Spark: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     Faster than 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Used for real-time data processing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err="1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NoSQL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Databases: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     Flexible and scalable (</a:t>
            </a:r>
            <a:r>
              <a:rPr lang="en-US" dirty="0" err="1" smtClean="0"/>
              <a:t>MongoDB</a:t>
            </a:r>
            <a:r>
              <a:rPr lang="en-US" dirty="0" smtClean="0"/>
              <a:t>, Cassandra)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 Handle unstructured data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Cloud Computing: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    Platforms like AWS, Azure, Google Cloud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   Provide scalable storage and computing power</a:t>
            </a:r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prstTxWarp prst="textChevronInverted">
              <a:avLst/>
            </a:prstTxWarp>
          </a:bodyPr>
          <a:lstStyle/>
          <a:p>
            <a:r>
              <a:rPr lang="en-US" b="1" i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Algerian" panose="04020705040A02060702" pitchFamily="82" charset="0"/>
              </a:rPr>
              <a:t>Big data analytics process </a:t>
            </a:r>
            <a:endParaRPr lang="en-US" b="1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1. Data Collection: </a:t>
            </a:r>
            <a:r>
              <a:rPr lang="en-US" dirty="0" smtClean="0"/>
              <a:t>Gathering data from multiple sources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2. Data Storage: </a:t>
            </a:r>
            <a:r>
              <a:rPr lang="en-US" dirty="0" smtClean="0"/>
              <a:t>Storing data in databases or cloud systems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3. Data Processing</a:t>
            </a:r>
            <a:r>
              <a:rPr lang="en-US" dirty="0" smtClean="0"/>
              <a:t>: Cleaning and organizing raw data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4. Data Analysis</a:t>
            </a:r>
            <a:r>
              <a:rPr lang="en-US" dirty="0" smtClean="0"/>
              <a:t>: Applying algorithms and tools to analyze data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5. Data Visualization</a:t>
            </a:r>
            <a:r>
              <a:rPr lang="en-US" dirty="0" smtClean="0"/>
              <a:t>: Presenting results using charts and dashboards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6. Decision Making</a:t>
            </a:r>
            <a:r>
              <a:rPr lang="en-US" dirty="0" smtClean="0"/>
              <a:t>: Using insights to make business decisions</a:t>
            </a:r>
            <a:endParaRPr lang="en-US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3">
                <a:lumMod val="50000"/>
              </a:schemeClr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25400" dir="5400000" rotWithShape="0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Below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prstTxWarp prst="textChevron">
              <a:avLst/>
            </a:prstTxWarp>
          </a:bodyPr>
          <a:lstStyle/>
          <a:p>
            <a:r>
              <a:rPr lang="en-US" i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  <a:latin typeface="Algerian" panose="04020705040A02060702" pitchFamily="82" charset="0"/>
              </a:rPr>
              <a:t>Types of analytics </a:t>
            </a:r>
            <a:endParaRPr lang="en-US" i="1" dirty="0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blurRad="38100" dist="32000" dir="5400000" algn="tl">
                  <a:srgbClr val="000000">
                    <a:alpha val="30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57150"/>
          <a:effectLst>
            <a:glow rad="101600">
              <a:schemeClr val="accent3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Descriptive Analytics:</a:t>
            </a:r>
            <a:endParaRPr lang="en-US" b="1" i="1" u="sng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 Analyzes past data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Example: Monthly sales report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Diagnostic Analytics:</a:t>
            </a:r>
            <a:endParaRPr lang="en-US" b="1" i="1" u="sng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 Finds reasons behind events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 Example: Why sales dropped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Predictive Analytics:</a:t>
            </a:r>
            <a:endParaRPr lang="en-US" b="1" i="1" u="sng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 Uses data to predict future outcomes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 Example: Forecasting demand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Prescriptive Analytics: </a:t>
            </a:r>
            <a:endParaRPr lang="en-US" b="1" i="1" u="sng" dirty="0" smtClean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dirty="0" smtClean="0"/>
              <a:t>     Suggests actions to achieve desired  outcomes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 Example: Best marketing strategy</a:t>
            </a:r>
            <a:endParaRPr lang="en-US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prstTxWarp prst="textChevron">
              <a:avLst/>
            </a:prstTxWarp>
          </a:bodyPr>
          <a:lstStyle/>
          <a:p>
            <a:r>
              <a:rPr lang="en-US" b="1" i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Algerian" panose="04020705040A02060702" pitchFamily="82" charset="0"/>
              </a:rPr>
              <a:t>Business application</a:t>
            </a:r>
            <a:endParaRPr lang="en-US" b="1" i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8100"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i="1" u="sng" dirty="0" smtClean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Customer Analysis: </a:t>
            </a:r>
            <a:r>
              <a:rPr lang="en-US" dirty="0" smtClean="0">
                <a:latin typeface="Franklin Gothic Heavy" panose="020B09030201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Understanding customer preferences and behavior</a:t>
            </a:r>
            <a:endParaRPr lang="en-US" dirty="0" smtClean="0">
              <a:latin typeface="Franklin Gothic Heavy" panose="020B09030201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u="sng" dirty="0" smtClean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Market Analysis:</a:t>
            </a:r>
            <a:r>
              <a:rPr lang="en-US" dirty="0" smtClean="0">
                <a:latin typeface="Franklin Gothic Heavy" panose="020B09030201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Identifying trends and opportunities</a:t>
            </a:r>
            <a:endParaRPr lang="en-US" dirty="0" smtClean="0">
              <a:latin typeface="Franklin Gothic Heavy" panose="020B09030201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u="sng" dirty="0" smtClean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Fraud Detection: </a:t>
            </a:r>
            <a:r>
              <a:rPr lang="en-US" dirty="0" smtClean="0">
                <a:latin typeface="Franklin Gothic Heavy" panose="020B09030201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Detecting suspicious activities in banking </a:t>
            </a:r>
            <a:endParaRPr lang="en-US" dirty="0" smtClean="0">
              <a:latin typeface="Franklin Gothic Heavy" panose="020B09030201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u="sng" dirty="0" smtClean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Supply Chain Optimization: </a:t>
            </a:r>
            <a:r>
              <a:rPr lang="en-US" dirty="0" smtClean="0">
                <a:latin typeface="Franklin Gothic Heavy" panose="020B09030201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Improving logistics and Inventory management</a:t>
            </a:r>
            <a:endParaRPr lang="en-US" dirty="0" smtClean="0">
              <a:latin typeface="Franklin Gothic Heavy" panose="020B09030201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i="1" u="sng" dirty="0" smtClean="0"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Personalization:</a:t>
            </a:r>
            <a:r>
              <a:rPr lang="en-US" dirty="0" smtClean="0">
                <a:latin typeface="Franklin Gothic Heavy" panose="020B09030201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Recommending products/services to users</a:t>
            </a:r>
            <a:endParaRPr lang="en-US" dirty="0">
              <a:latin typeface="Franklin Gothic Heavy" panose="020B0903020102020204" pitchFamily="34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990600"/>
          </a:xfrm>
          <a:ln w="38100"/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Above"/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accent3">
                <a:satMod val="115000"/>
              </a:schemeClr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prstTxWarp prst="textTriangle">
              <a:avLst/>
            </a:prstTxWarp>
          </a:bodyPr>
          <a:lstStyle/>
          <a:p>
            <a:r>
              <a:rPr lang="en-US" b="1" i="1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Real life examples</a:t>
            </a:r>
            <a:endParaRPr lang="en-US" b="1" i="1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glow rad="139700">
              <a:schemeClr val="accent3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Amazon: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Uses data analytics to recommend products based on user behavior</a:t>
            </a: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Netflix: 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Suggests movies/shows using viewing history</a:t>
            </a: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Google: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Improves search results using user data</a:t>
            </a:r>
            <a:endParaRPr lang="en-US" dirty="0" smtClean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Banking Sector: </a:t>
            </a:r>
            <a:r>
              <a:rPr lang="en-US" dirty="0" smtClean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Detects fraud using transaction patterns</a:t>
            </a:r>
            <a:endParaRPr 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ChevronInverted">
              <a:avLst/>
            </a:prstTxWarp>
          </a:bodyPr>
          <a:lstStyle/>
          <a:p>
            <a:r>
              <a:rPr lang="en-US" b="1" i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50000"/>
                  </a:schemeClr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  <a:latin typeface="Algerian" panose="04020705040A02060702" pitchFamily="82" charset="0"/>
              </a:rPr>
              <a:t>Benefits of big data</a:t>
            </a:r>
            <a:endParaRPr lang="en-US" b="1" i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solidFill>
                <a:schemeClr val="tx2">
                  <a:lumMod val="50000"/>
                </a:schemeClr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38100" dist="38100" dir="7020000" algn="tl">
                  <a:srgbClr val="000000">
                    <a:alpha val="35000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glow rad="139700">
              <a:schemeClr val="accent2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Helps organizations make informed decisions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Improves operational efficiency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Reduces business risks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Enhances customer satisfaction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Provides competitive advantage in the market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Faster innovation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err="1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Predective</a:t>
            </a: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maintenance</a:t>
            </a:r>
            <a:endParaRPr lang="en-US" b="1" i="1" dirty="0" smtClean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  <a:latin typeface="Footlight MT Light" panose="0204060206030A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Risk management and security</a:t>
            </a:r>
            <a:endParaRPr lang="en-US" b="1" i="1" dirty="0">
              <a:solidFill>
                <a:schemeClr val="accent2">
                  <a:lumMod val="50000"/>
                </a:schemeClr>
              </a:solidFill>
              <a:latin typeface="Footlight MT Light" panose="0204060206030A020304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ChevronInverted">
              <a:avLst/>
            </a:prstTxWarp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 b="1" i="1" cap="all" dirty="0" smtClean="0">
                <a:ln w="3810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lgerian" panose="04020705040A02060702" pitchFamily="82" charset="0"/>
              </a:rPr>
              <a:t>challenges</a:t>
            </a:r>
            <a:endParaRPr lang="en-US" b="1" i="1" cap="all" dirty="0">
              <a:ln w="3810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100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Data Privacy: </a:t>
            </a:r>
            <a:r>
              <a:rPr lang="en-US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Protecting user data is difficult</a:t>
            </a:r>
            <a:endParaRPr lang="en-US" dirty="0" smtClean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100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High Cost: </a:t>
            </a:r>
            <a:r>
              <a:rPr lang="en-US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Infrastructure and tools are expensive </a:t>
            </a:r>
            <a:endParaRPr lang="en-US" dirty="0" smtClean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100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Security Risks</a:t>
            </a:r>
            <a:r>
              <a:rPr lang="en-US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 breaches and cyber attacks</a:t>
            </a:r>
            <a:endParaRPr lang="en-US" dirty="0" smtClean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100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Data Management: </a:t>
            </a:r>
            <a:r>
              <a:rPr lang="en-US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Handling large volumes of data</a:t>
            </a:r>
            <a:endParaRPr lang="en-US" dirty="0" smtClean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100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Skill Gap: </a:t>
            </a:r>
            <a:r>
              <a:rPr lang="en-US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Need for skilled data professionals</a:t>
            </a:r>
            <a:endParaRPr lang="en-US" dirty="0" smtClean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100" b="1" i="1" u="sng" dirty="0" smtClean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scadia Code" panose="020B0609020000020004" pitchFamily="49" charset="0"/>
                <a:cs typeface="Cascadia Code" panose="020B0609020000020004" pitchFamily="49" charset="0"/>
              </a:rPr>
              <a:t>Analytical complexity: </a:t>
            </a:r>
            <a:r>
              <a:rPr lang="en-US" dirty="0" smtClean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extracting meaningful value from massive and noisy datasets requires advanced, often specialized ,tools and techniques.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CurveDown">
              <a:avLst/>
            </a:prstTxWarp>
          </a:bodyPr>
          <a:lstStyle/>
          <a:p>
            <a:r>
              <a:rPr lang="en-US" b="1" i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41275" dist="12700" dir="12000000" algn="tl" rotWithShape="0">
                    <a:srgbClr val="000000">
                      <a:alpha val="40000"/>
                    </a:srgbClr>
                  </a:outerShdw>
                  <a:reflection blurRad="6350" stA="60000" endA="900" endPos="58000" dir="5400000" sy="-100000" algn="bl" rotWithShape="0"/>
                </a:effectLst>
                <a:latin typeface="Algerian" panose="04020705040A02060702" pitchFamily="82" charset="0"/>
              </a:rPr>
              <a:t>Future scope</a:t>
            </a:r>
            <a:endParaRPr lang="en-US" b="1" i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41275" dist="12700" dir="12000000" algn="tl" rotWithShape="0">
                  <a:srgbClr val="000000">
                    <a:alpha val="40000"/>
                  </a:srgbClr>
                </a:outerShdw>
                <a:reflection blurRad="6350" stA="60000" endA="900" endPos="58000" dir="5400000" sy="-10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>
            <a:glow rad="139700">
              <a:schemeClr val="accent1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anose="04020705040A02060702" pitchFamily="82" charset="0"/>
              </a:rPr>
              <a:t>Integration with Artificial Intelligence and Machine Learning</a:t>
            </a:r>
            <a:endParaRPr lang="en-US" sz="3200" b="1" i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anose="04020705040A02060702" pitchFamily="82" charset="0"/>
              </a:rPr>
              <a:t>Growth of real-time analytics systems </a:t>
            </a:r>
            <a:endParaRPr lang="en-US" sz="3200" b="1" i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anose="04020705040A02060702" pitchFamily="82" charset="0"/>
              </a:rPr>
              <a:t>Increased use in healthcare, education and smart cities</a:t>
            </a:r>
            <a:endParaRPr lang="en-US" sz="3200" b="1" i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anose="04020705040A02060702" pitchFamily="82" charset="0"/>
              </a:rPr>
              <a:t>Automation of decision-making processes</a:t>
            </a:r>
            <a:endParaRPr lang="en-US" sz="3200" b="1" i="1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lgerian" panose="04020705040A02060702" pitchFamily="82" charset="0"/>
              </a:rPr>
              <a:t>Expansion of lot and connected devices.</a:t>
            </a:r>
            <a:endParaRPr lang="en-US" sz="3200" b="1" i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Chevron">
              <a:avLst/>
            </a:prstTxWarp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en-US" b="1" dirty="0" smtClean="0">
                <a:ln w="1905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solidFill>
                  <a:schemeClr val="accent2">
                    <a:lumMod val="50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38100" dir="7020000" algn="tl">
                    <a:srgbClr val="000000">
                      <a:alpha val="35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Dashboard / insights</a:t>
            </a:r>
            <a:endParaRPr lang="en-US" b="1" dirty="0">
              <a:ln w="1905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solidFill>
                <a:schemeClr val="accent2">
                  <a:lumMod val="50000"/>
                </a:schemeClr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38100" dir="7020000" algn="tl">
                  <a:srgbClr val="000000">
                    <a:alpha val="35000"/>
                  </a:srgbClr>
                </a:outerShdw>
                <a:reflection blurRad="6350" stA="55000" endA="300" endPos="45500" dir="5400000" sy="-100000" algn="bl" rotWithShape="0"/>
              </a:effectLst>
              <a:latin typeface="Algerian" panose="04020705040A02060702" pitchFamily="82" charset="0"/>
            </a:endParaRPr>
          </a:p>
        </p:txBody>
      </p:sp>
      <p:pic>
        <p:nvPicPr>
          <p:cNvPr id="9" name="Content Placeholder 8" descr="Screenshot 2026-04-03 14315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2452370"/>
            <a:ext cx="3623945" cy="2532380"/>
          </a:xfrm>
          <a:prstGeom prst="rect">
            <a:avLst/>
          </a:prstGeom>
        </p:spPr>
      </p:pic>
      <p:pic>
        <p:nvPicPr>
          <p:cNvPr id="10" name="Picture 9" descr="Screenshot 2026-04-03 1434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438400"/>
            <a:ext cx="3226435" cy="2205355"/>
          </a:xfrm>
          <a:prstGeom prst="rect">
            <a:avLst/>
          </a:prstGeom>
        </p:spPr>
      </p:pic>
      <p:pic>
        <p:nvPicPr>
          <p:cNvPr id="11" name="Picture 10" descr="Screenshot 2026-04-03 1436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4876800"/>
            <a:ext cx="3048635" cy="190182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prstTxWarp prst="textChevron">
              <a:avLst/>
            </a:prstTxWarp>
            <a:scene3d>
              <a:camera prst="orthographicFront"/>
              <a:lightRig rig="soft" dir="tl">
                <a:rot lat="0" lon="0" rev="0"/>
              </a:lightRig>
            </a:scene3d>
            <a:sp3d extrusionH="57150" contourW="25400" prstMaterial="matte">
              <a:bevelT w="25400" h="55880" prst="softRound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b="1" i="1" spc="50" dirty="0" smtClean="0">
                <a:ln w="11430"/>
                <a:gradFill flip="none" rotWithShape="1"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8100000" scaled="1"/>
                  <a:tileRect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conclusion</a:t>
            </a:r>
            <a:endParaRPr lang="en-US" b="1" i="1" spc="50" dirty="0">
              <a:ln w="11430"/>
              <a:gradFill flip="none" rotWithShape="1"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8100000" scaled="1"/>
                <a:tileRect/>
              </a:gra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Big Data Analytics is a powerful tool for modem businesses</a:t>
            </a:r>
            <a:endParaRPr lang="en-US" sz="3200" b="1" i="1" dirty="0" smtClean="0">
              <a:solidFill>
                <a:schemeClr val="accent1">
                  <a:lumMod val="50000"/>
                </a:schemeClr>
              </a:solidFill>
              <a:latin typeface="Footlight MT Light" panose="0204060206030A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It transforms raw data into meaningful insights</a:t>
            </a:r>
            <a:endParaRPr lang="en-US" sz="3200" b="1" i="1" dirty="0" smtClean="0">
              <a:solidFill>
                <a:schemeClr val="accent1">
                  <a:lumMod val="50000"/>
                </a:schemeClr>
              </a:solidFill>
              <a:latin typeface="Footlight MT Light" panose="0204060206030A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Helps organizations stay competitive and Innovative</a:t>
            </a:r>
            <a:endParaRPr lang="en-US" sz="3200" b="1" i="1" dirty="0" smtClean="0">
              <a:solidFill>
                <a:schemeClr val="accent1">
                  <a:lumMod val="50000"/>
                </a:schemeClr>
              </a:solidFill>
              <a:latin typeface="Footlight MT Light" panose="0204060206030A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i="1" dirty="0" smtClean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Plays a crucial role in future technological advancements</a:t>
            </a:r>
            <a:endParaRPr lang="en-US" sz="3200" b="1" i="1" dirty="0">
              <a:solidFill>
                <a:schemeClr val="accent1">
                  <a:lumMod val="50000"/>
                </a:schemeClr>
              </a:solidFill>
              <a:latin typeface="Footlight MT Light" panose="0204060206030A020304" pitchFamily="18" charset="0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4-01 2001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90600"/>
            <a:ext cx="8529279" cy="4648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4429</Words>
  <Application>WPS Presentation</Application>
  <PresentationFormat>On-screen Show (4:3)</PresentationFormat>
  <Paragraphs>132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Georgia</vt:lpstr>
      <vt:lpstr>Wingdings 2</vt:lpstr>
      <vt:lpstr>Algerian</vt:lpstr>
      <vt:lpstr>Colonna MT</vt:lpstr>
      <vt:lpstr>Arial Rounded MT Bold</vt:lpstr>
      <vt:lpstr>Cascadia Code</vt:lpstr>
      <vt:lpstr>Franklin Gothic Heavy</vt:lpstr>
      <vt:lpstr>Arial Unicode MS</vt:lpstr>
      <vt:lpstr>Footlight MT Light</vt:lpstr>
      <vt:lpstr>Microsoft YaHei</vt:lpstr>
      <vt:lpstr>Arial Unicode MS</vt:lpstr>
      <vt:lpstr>Trebuchet MS</vt:lpstr>
      <vt:lpstr>Calibri</vt:lpstr>
      <vt:lpstr>Georgia</vt:lpstr>
      <vt:lpstr>Urban</vt:lpstr>
      <vt:lpstr>Big data analytics for business insights</vt:lpstr>
      <vt:lpstr>team member detailser details</vt:lpstr>
      <vt:lpstr>             introduction</vt:lpstr>
      <vt:lpstr>What is big data?</vt:lpstr>
      <vt:lpstr>Souces of big data </vt:lpstr>
      <vt:lpstr>Technologies used</vt:lpstr>
      <vt:lpstr>Big data analytics process </vt:lpstr>
      <vt:lpstr>Types of analytics </vt:lpstr>
      <vt:lpstr>Business application</vt:lpstr>
      <vt:lpstr>Real life examples</vt:lpstr>
      <vt:lpstr>Benefits of big data</vt:lpstr>
      <vt:lpstr>challenges</vt:lpstr>
      <vt:lpstr>Future scope</vt:lpstr>
      <vt:lpstr>Dashboard / insights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 for business insights</dc:title>
  <dc:creator>sharmayashasvi206@gmail.com</dc:creator>
  <cp:lastModifiedBy>LAB21</cp:lastModifiedBy>
  <cp:revision>46</cp:revision>
  <dcterms:created xsi:type="dcterms:W3CDTF">2026-03-31T13:28:00Z</dcterms:created>
  <dcterms:modified xsi:type="dcterms:W3CDTF">2026-04-03T10:06:24Z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CB3BC46903D6403C90E5246BEAB6F779_13</vt:lpwstr>
  </property>
  <property fmtid="{D5CDD505-2E9C-101B-9397-08002B2CF9AE}" pid="3" name="KSOProductBuildVer">
    <vt:lpwstr>1033-12.2.0.23196</vt:lpwstr>
  </property>
</Properties>
</file>